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808415" y="-2011680"/>
            <a:ext cx="5943600" cy="5943600"/>
          </a:xfrm>
          <a:prstGeom prst="ellipse">
            <a:avLst/>
          </a:prstGeom>
          <a:noFill/>
          <a:ln w="15240">
            <a:solidFill>
              <a:srgbClr val="C6A1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22815" y="-1097280"/>
            <a:ext cx="4114800" cy="4114800"/>
          </a:xfrm>
          <a:prstGeom prst="ellipse">
            <a:avLst/>
          </a:prstGeom>
          <a:noFill/>
          <a:ln w="15240">
            <a:solidFill>
              <a:srgbClr val="C6A1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150">
                <a:solidFill>
                  <a:srgbClr val="C6A15B"/>
                </a:solidFill>
                <a:latin typeface="Calibri"/>
              </a:rPr>
              <a:t>INTELIGENCIA ARTIFICIAL APLICADA A LA MODA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9265615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FFFFFF"/>
                </a:solidFill>
                <a:latin typeface="Cambria"/>
              </a:rPr>
              <a:t>Personalización y recomendación de prendas con 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63240"/>
            <a:ext cx="8808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1">
                <a:solidFill>
                  <a:srgbClr val="C6A15B"/>
                </a:solidFill>
                <a:latin typeface="Cambria"/>
              </a:rPr>
              <a:t>Cómo construir un recomendador básico en Python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86200"/>
            <a:ext cx="8046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A79F92"/>
                </a:solidFill>
                <a:latin typeface="Calibri"/>
              </a:rPr>
              <a:t>Aprende a diseñar sistemas de recomendación sencillos para tiendas de moda usando lógica simple y Google Colab.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97228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00">
                <a:solidFill>
                  <a:srgbClr val="A79F92"/>
                </a:solidFill>
                <a:latin typeface="Calibri"/>
              </a:rPr>
              <a:t>PRESENTACIÓN GENERADA AUTOMÁTICAMENTE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C6A15B"/>
                </a:solidFill>
                <a:latin typeface="Calibri"/>
              </a:rPr>
              <a:t>01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150">
                <a:solidFill>
                  <a:srgbClr val="C6A15B"/>
                </a:solidFill>
                <a:latin typeface="Calibri"/>
              </a:rPr>
              <a:t>ÍNDICE DE LA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41414"/>
                </a:solidFill>
                <a:latin typeface="Cambria"/>
              </a:rPr>
              <a:t>Contenidos de la sesión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3545738" cy="2331720"/>
          </a:xfrm>
          <a:prstGeom prst="rect">
            <a:avLst/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11680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9C7B3D"/>
                </a:solidFill>
                <a:latin typeface="Cambr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06040"/>
            <a:ext cx="30885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1414"/>
                </a:solidFill>
                <a:latin typeface="Calibri"/>
              </a:rPr>
              <a:t>Fundamentos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99232"/>
            <a:ext cx="308853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B655D"/>
                </a:solidFill>
                <a:latin typeface="Calibri"/>
              </a:rPr>
              <a:t>Qué es un sistema de recomendación en moda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2978" y="1828800"/>
            <a:ext cx="3545738" cy="2331720"/>
          </a:xfrm>
          <a:prstGeom prst="rect">
            <a:avLst/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1578" y="2011680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9C7B3D"/>
                </a:solidFill>
                <a:latin typeface="Cambria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1578" y="2606040"/>
            <a:ext cx="30885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1414"/>
                </a:solidFill>
                <a:latin typeface="Calibri"/>
              </a:rPr>
              <a:t>Datos y personalización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1578" y="2999232"/>
            <a:ext cx="308853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B655D"/>
                </a:solidFill>
                <a:latin typeface="Calibri"/>
              </a:rPr>
              <a:t>Qué información usa la IA para recomendar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7316" y="1828800"/>
            <a:ext cx="3545738" cy="2331720"/>
          </a:xfrm>
          <a:prstGeom prst="rect">
            <a:avLst/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5916" y="2011680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9C7B3D"/>
                </a:solidFill>
                <a:latin typeface="Cambria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5916" y="2606040"/>
            <a:ext cx="30885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1414"/>
                </a:solidFill>
                <a:latin typeface="Calibri"/>
              </a:rPr>
              <a:t>Tipos de recomendación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5916" y="2999232"/>
            <a:ext cx="308853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B655D"/>
                </a:solidFill>
                <a:latin typeface="Calibri"/>
              </a:rPr>
              <a:t>Contenido, historial y ocasión de uso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389120"/>
            <a:ext cx="3545738" cy="2331720"/>
          </a:xfrm>
          <a:prstGeom prst="rect">
            <a:avLst/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572000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9C7B3D"/>
                </a:solidFill>
                <a:latin typeface="Cambria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166359"/>
            <a:ext cx="30885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1414"/>
                </a:solidFill>
                <a:latin typeface="Calibri"/>
              </a:rPr>
              <a:t>Cálculo de puntuación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559552"/>
            <a:ext cx="308853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B655D"/>
                </a:solidFill>
                <a:latin typeface="Calibri"/>
              </a:rPr>
              <a:t>Cómo se asignan puntos a cada prenda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22978" y="4389120"/>
            <a:ext cx="3545738" cy="2331720"/>
          </a:xfrm>
          <a:prstGeom prst="rect">
            <a:avLst/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51578" y="4572000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9C7B3D"/>
                </a:solidFill>
                <a:latin typeface="Cambria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1578" y="5166359"/>
            <a:ext cx="30885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1414"/>
                </a:solidFill>
                <a:latin typeface="Calibri"/>
              </a:rPr>
              <a:t>Práctica en Python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1578" y="5559552"/>
            <a:ext cx="308853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B655D"/>
                </a:solidFill>
                <a:latin typeface="Calibri"/>
              </a:rPr>
              <a:t>Construcción del recomendador en Colab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97316" y="4389120"/>
            <a:ext cx="3545738" cy="2331720"/>
          </a:xfrm>
          <a:prstGeom prst="rect">
            <a:avLst/>
          </a:prstGeom>
          <a:solidFill>
            <a:srgbClr val="F7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5916" y="4572000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9C7B3D"/>
                </a:solidFill>
                <a:latin typeface="Cambria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5916" y="5166359"/>
            <a:ext cx="30885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1414"/>
                </a:solidFill>
                <a:latin typeface="Calibri"/>
              </a:rPr>
              <a:t>Buenas prácticas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5916" y="5559552"/>
            <a:ext cx="308853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6B655D"/>
                </a:solidFill>
                <a:latin typeface="Calibri"/>
              </a:rPr>
              <a:t>Recomendaciones para un buen diseño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73952"/>
            <a:ext cx="97228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00">
                <a:solidFill>
                  <a:srgbClr val="A79F92"/>
                </a:solidFill>
                <a:latin typeface="Calibri"/>
              </a:rPr>
              <a:t>PRESENTACIÓN GENERADA AUTOMÁTICAMENTE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9C7B3D"/>
                </a:solidFill>
                <a:latin typeface="Calibri"/>
              </a:rPr>
              <a:t>02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150">
                <a:solidFill>
                  <a:srgbClr val="C6A15B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41414"/>
                </a:solidFill>
                <a:latin typeface="Cambria"/>
              </a:rPr>
              <a:t>¿Qué aprenderás en esta sección?</a:t>
            </a:r>
          </a:p>
        </p:txBody>
      </p:sp>
      <p:sp>
        <p:nvSpPr>
          <p:cNvPr id="5" name="Oval 4"/>
          <p:cNvSpPr/>
          <p:nvPr/>
        </p:nvSpPr>
        <p:spPr>
          <a:xfrm>
            <a:off x="566928" y="1965960"/>
            <a:ext cx="82296" cy="82296"/>
          </a:xfrm>
          <a:prstGeom prst="ellipse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874519"/>
            <a:ext cx="108200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141414"/>
                </a:solidFill>
                <a:latin typeface="Calibri"/>
              </a:rPr>
              <a:t>Entender qué es un sistema de recomendación en moda</a:t>
            </a:r>
          </a:p>
        </p:txBody>
      </p:sp>
      <p:sp>
        <p:nvSpPr>
          <p:cNvPr id="7" name="Oval 6"/>
          <p:cNvSpPr/>
          <p:nvPr/>
        </p:nvSpPr>
        <p:spPr>
          <a:xfrm>
            <a:off x="566928" y="2532888"/>
            <a:ext cx="82296" cy="82296"/>
          </a:xfrm>
          <a:prstGeom prst="ellipse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441448"/>
            <a:ext cx="108200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141414"/>
                </a:solidFill>
                <a:latin typeface="Calibri"/>
              </a:rPr>
              <a:t>Identificar qué datos usa una IA para sugerir prendas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3099816"/>
            <a:ext cx="82296" cy="82296"/>
          </a:xfrm>
          <a:prstGeom prst="ellipse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3008376"/>
            <a:ext cx="108200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141414"/>
                </a:solidFill>
                <a:latin typeface="Calibri"/>
              </a:rPr>
              <a:t>Diferenciar recomendaciones por gustos, historial, talla, color y ocasión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3666744"/>
            <a:ext cx="82296" cy="82296"/>
          </a:xfrm>
          <a:prstGeom prst="ellipse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3575304"/>
            <a:ext cx="108200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141414"/>
                </a:solidFill>
                <a:latin typeface="Calibri"/>
              </a:rPr>
              <a:t>Crear una lógica sencilla en Python para recomendar prendas</a:t>
            </a:r>
          </a:p>
        </p:txBody>
      </p:sp>
      <p:sp>
        <p:nvSpPr>
          <p:cNvPr id="13" name="Oval 12"/>
          <p:cNvSpPr/>
          <p:nvPr/>
        </p:nvSpPr>
        <p:spPr>
          <a:xfrm>
            <a:off x="566928" y="4233672"/>
            <a:ext cx="82296" cy="82296"/>
          </a:xfrm>
          <a:prstGeom prst="ellipse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4142232"/>
            <a:ext cx="108200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141414"/>
                </a:solidFill>
                <a:latin typeface="Calibri"/>
              </a:rPr>
              <a:t>Probar el código en Google Colab sin conocimientos avanzados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97228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00">
                <a:solidFill>
                  <a:srgbClr val="A79F92"/>
                </a:solidFill>
                <a:latin typeface="Calibri"/>
              </a:rPr>
              <a:t>PRESENTACIÓN GENERADA AUTOMÁTICAMENTE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9C7B3D"/>
                </a:solidFill>
                <a:latin typeface="Calibri"/>
              </a:rPr>
              <a:t>03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150">
                <a:solidFill>
                  <a:srgbClr val="C6A15B"/>
                </a:solidFill>
                <a:latin typeface="Calibri"/>
              </a:rPr>
              <a:t>IDEA PRINCIPAL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Cambria"/>
              </a:rPr>
              <a:t>¿Qué es un sistema de recomendación?</a:t>
            </a:r>
          </a:p>
        </p:txBody>
      </p:sp>
      <p:sp>
        <p:nvSpPr>
          <p:cNvPr id="5" name="Oval 4"/>
          <p:cNvSpPr/>
          <p:nvPr/>
        </p:nvSpPr>
        <p:spPr>
          <a:xfrm>
            <a:off x="566928" y="1965960"/>
            <a:ext cx="82296" cy="82296"/>
          </a:xfrm>
          <a:prstGeom prst="ellipse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874519"/>
            <a:ext cx="108200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Responde a la pregunta: '¿qué prenda podría gustarle a esta persona?'</a:t>
            </a:r>
          </a:p>
        </p:txBody>
      </p:sp>
      <p:sp>
        <p:nvSpPr>
          <p:cNvPr id="7" name="Oval 6"/>
          <p:cNvSpPr/>
          <p:nvPr/>
        </p:nvSpPr>
        <p:spPr>
          <a:xfrm>
            <a:off x="566928" y="2532888"/>
            <a:ext cx="82296" cy="82296"/>
          </a:xfrm>
          <a:prstGeom prst="ellipse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441448"/>
            <a:ext cx="108200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Ejemplos: 'También te puede gustar…', 'Recomendado para ti'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3099816"/>
            <a:ext cx="82296" cy="82296"/>
          </a:xfrm>
          <a:prstGeom prst="ellipse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3008376"/>
            <a:ext cx="108200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'Completa tu look', 'Prendas similares', 'Looks para ocasión especial'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3666744"/>
            <a:ext cx="82296" cy="82296"/>
          </a:xfrm>
          <a:prstGeom prst="ellipse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3575304"/>
            <a:ext cx="108200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Se basa en datos como gustos, historial, talla, color y estilo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97228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00">
                <a:solidFill>
                  <a:srgbClr val="A79F92"/>
                </a:solidFill>
                <a:latin typeface="Calibri"/>
              </a:rPr>
              <a:t>PRESENTACIÓN GENERADA AUTOMÁTICAMENTE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C6A15B"/>
                </a:solidFill>
                <a:latin typeface="Calibri"/>
              </a:rPr>
              <a:t>04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150">
                <a:solidFill>
                  <a:srgbClr val="C6A15B"/>
                </a:solidFill>
                <a:latin typeface="Calibri"/>
              </a:rPr>
              <a:t>DATOS DEL USUARIO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41414"/>
                </a:solidFill>
                <a:latin typeface="Cambria"/>
              </a:rPr>
              <a:t>Qué información usa la IA para recomendar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28800"/>
          <a:ext cx="11094415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6A15B"/>
                          </a:solidFill>
                          <a:latin typeface="Calibri"/>
                        </a:rPr>
                        <a:t>Dato del usuario</a:t>
                      </a:r>
                    </a:p>
                  </a:txBody>
                  <a:tcPr marL="76200" marR="76200" marT="50800" marB="50800" anchor="ctr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6A15B"/>
                          </a:solidFill>
                          <a:latin typeface="Calibri"/>
                        </a:rPr>
                        <a:t>Ejemplo</a:t>
                      </a:r>
                    </a:p>
                  </a:txBody>
                  <a:tcPr marL="76200" marR="76200" marT="50800" marB="50800" anchor="ctr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6A15B"/>
                          </a:solidFill>
                          <a:latin typeface="Calibri"/>
                        </a:rPr>
                        <a:t>Uso en la recomendación</a:t>
                      </a:r>
                    </a:p>
                  </a:txBody>
                  <a:tcPr marL="76200" marR="76200" marT="50800" marB="50800" anchor="ctr">
                    <a:solidFill>
                      <a:srgbClr val="14141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Gustos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Le gustan los vestidos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Mostrar más vestidos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Historial de compra</a:t>
                      </a:r>
                    </a:p>
                  </a:txBody>
                  <a:tcPr marL="76200" marR="76200" marT="50800" marB="50800" anchor="ctr"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Compró jeans azules</a:t>
                      </a:r>
                    </a:p>
                  </a:txBody>
                  <a:tcPr marL="76200" marR="76200" marT="50800" marB="50800" anchor="ctr"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Recomendar camisetas o chaquetas que combinen</a:t>
                      </a:r>
                    </a:p>
                  </a:txBody>
                  <a:tcPr marL="76200" marR="76200" marT="50800" marB="50800" anchor="ctr">
                    <a:solidFill>
                      <a:srgbClr val="F7F5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Talla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Usa talla M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Ocultar prendas sin talla M disponible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Colores favoritos</a:t>
                      </a:r>
                    </a:p>
                  </a:txBody>
                  <a:tcPr marL="76200" marR="76200" marT="50800" marB="50800" anchor="ctr"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Prefiere negro y beige</a:t>
                      </a:r>
                    </a:p>
                  </a:txBody>
                  <a:tcPr marL="76200" marR="76200" marT="50800" marB="50800" anchor="ctr"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Priorizar prendas de esos colores</a:t>
                      </a:r>
                    </a:p>
                  </a:txBody>
                  <a:tcPr marL="76200" marR="76200" marT="50800" marB="50800" anchor="ctr">
                    <a:solidFill>
                      <a:srgbClr val="F7F5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Ocasión de uso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Busca ropa para entrevista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Recomendar prendas formales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Estilo</a:t>
                      </a:r>
                    </a:p>
                  </a:txBody>
                  <a:tcPr marL="76200" marR="76200" marT="50800" marB="50800" anchor="ctr"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Casual, elegante, deportivo</a:t>
                      </a:r>
                    </a:p>
                  </a:txBody>
                  <a:tcPr marL="76200" marR="76200" marT="50800" marB="50800" anchor="ctr"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Filtrar prendas del mismo estilo</a:t>
                      </a:r>
                    </a:p>
                  </a:txBody>
                  <a:tcPr marL="76200" marR="76200" marT="50800" marB="50800" anchor="ctr">
                    <a:solidFill>
                      <a:srgbClr val="F7F5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73952"/>
            <a:ext cx="97228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00">
                <a:solidFill>
                  <a:srgbClr val="A79F92"/>
                </a:solidFill>
                <a:latin typeface="Calibri"/>
              </a:rPr>
              <a:t>PRESENTACIÓN GENERADA AUTOMÁTICAMENTE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9C7B3D"/>
                </a:solidFill>
                <a:latin typeface="Calibri"/>
              </a:rPr>
              <a:t>05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150">
                <a:solidFill>
                  <a:srgbClr val="C6A15B"/>
                </a:solidFill>
                <a:latin typeface="Calibri"/>
              </a:rPr>
              <a:t>FLUJO DEL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Cambria"/>
              </a:rPr>
              <a:t>Cómo piensa un recomendador de moda</a:t>
            </a:r>
          </a:p>
        </p:txBody>
      </p:sp>
      <p:sp>
        <p:nvSpPr>
          <p:cNvPr id="5" name="Oval 4"/>
          <p:cNvSpPr/>
          <p:nvPr/>
        </p:nvSpPr>
        <p:spPr>
          <a:xfrm>
            <a:off x="566928" y="1965960"/>
            <a:ext cx="82296" cy="82296"/>
          </a:xfrm>
          <a:prstGeom prst="ellipse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874519"/>
            <a:ext cx="108200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Usuario aporta talla, color favorito, estilo y ocasión</a:t>
            </a:r>
          </a:p>
        </p:txBody>
      </p:sp>
      <p:sp>
        <p:nvSpPr>
          <p:cNvPr id="7" name="Oval 6"/>
          <p:cNvSpPr/>
          <p:nvPr/>
        </p:nvSpPr>
        <p:spPr>
          <a:xfrm>
            <a:off x="566928" y="2532888"/>
            <a:ext cx="82296" cy="82296"/>
          </a:xfrm>
          <a:prstGeom prst="ellipse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441448"/>
            <a:ext cx="108200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El sistema de recomendación con IA procesa esos datos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3099816"/>
            <a:ext cx="82296" cy="82296"/>
          </a:xfrm>
          <a:prstGeom prst="ellipse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3008376"/>
            <a:ext cx="108200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Compara con las prendas disponibles en la tienda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3666744"/>
            <a:ext cx="82296" cy="82296"/>
          </a:xfrm>
          <a:prstGeom prst="ellipse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3575304"/>
            <a:ext cx="108200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Selecciona las prendas más adecuadas para ese perfil</a:t>
            </a:r>
          </a:p>
        </p:txBody>
      </p:sp>
      <p:sp>
        <p:nvSpPr>
          <p:cNvPr id="13" name="Oval 12"/>
          <p:cNvSpPr/>
          <p:nvPr/>
        </p:nvSpPr>
        <p:spPr>
          <a:xfrm>
            <a:off x="566928" y="4233672"/>
            <a:ext cx="82296" cy="82296"/>
          </a:xfrm>
          <a:prstGeom prst="ellipse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4142232"/>
            <a:ext cx="108200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Resultado final: camiseta negra casual, jeans azul oscuro, chaqueta denim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97228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00">
                <a:solidFill>
                  <a:srgbClr val="A79F92"/>
                </a:solidFill>
                <a:latin typeface="Calibri"/>
              </a:rPr>
              <a:t>PRESENTACIÓN GENERADA AUTOMÁTICAMENTE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C6A15B"/>
                </a:solidFill>
                <a:latin typeface="Calibri"/>
              </a:rPr>
              <a:t>06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150">
                <a:solidFill>
                  <a:srgbClr val="C6A15B"/>
                </a:solidFill>
                <a:latin typeface="Calibri"/>
              </a:rPr>
              <a:t>PERSONALIZACIÓN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41414"/>
                </a:solidFill>
                <a:latin typeface="Cambria"/>
              </a:rPr>
              <a:t>Adaptar la experiencia de compra a cada persona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28800"/>
          <a:ext cx="1109441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6A15B"/>
                          </a:solidFill>
                          <a:latin typeface="Calibri"/>
                        </a:rPr>
                        <a:t>Usuario</a:t>
                      </a:r>
                    </a:p>
                  </a:txBody>
                  <a:tcPr marL="76200" marR="76200" marT="50800" marB="50800" anchor="ctr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6A15B"/>
                          </a:solidFill>
                          <a:latin typeface="Calibri"/>
                        </a:rPr>
                        <a:t>Preferencias</a:t>
                      </a:r>
                    </a:p>
                  </a:txBody>
                  <a:tcPr marL="76200" marR="76200" marT="50800" marB="50800" anchor="ctr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6A15B"/>
                          </a:solidFill>
                          <a:latin typeface="Calibri"/>
                        </a:rPr>
                        <a:t>Recomendación adecuada</a:t>
                      </a:r>
                    </a:p>
                  </a:txBody>
                  <a:tcPr marL="76200" marR="76200" marT="50800" marB="50800" anchor="ctr">
                    <a:solidFill>
                      <a:srgbClr val="14141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Ana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Ropa elegante, color negro, talla S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Blazer negro, pantalón formal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Luis</a:t>
                      </a:r>
                    </a:p>
                  </a:txBody>
                  <a:tcPr marL="76200" marR="76200" marT="50800" marB="50800" anchor="ctr"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Ropa deportiva, color azul, talla L</a:t>
                      </a:r>
                    </a:p>
                  </a:txBody>
                  <a:tcPr marL="76200" marR="76200" marT="50800" marB="50800" anchor="ctr"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Sudadera azul, zapatillas deportivas</a:t>
                      </a:r>
                    </a:p>
                  </a:txBody>
                  <a:tcPr marL="76200" marR="76200" marT="50800" marB="50800" anchor="ctr">
                    <a:solidFill>
                      <a:srgbClr val="F7F5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Marta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Estilo casual, tonos beige, talla M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Camiseta beige, jeans claros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73952"/>
            <a:ext cx="97228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00">
                <a:solidFill>
                  <a:srgbClr val="A79F92"/>
                </a:solidFill>
                <a:latin typeface="Calibri"/>
              </a:rPr>
              <a:t>PRESENTACIÓN GENERADA AUTOMÁTICAMENTE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9C7B3D"/>
                </a:solidFill>
                <a:latin typeface="Calibri"/>
              </a:rPr>
              <a:t>07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150">
                <a:solidFill>
                  <a:srgbClr val="C6A15B"/>
                </a:solidFill>
                <a:latin typeface="Calibri"/>
              </a:rPr>
              <a:t>TIPOS DE RECOMENDACIÓN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41414"/>
                </a:solidFill>
                <a:latin typeface="Cambria"/>
              </a:rPr>
              <a:t>Tres formas sencillas de recomendar en moda</a:t>
            </a:r>
          </a:p>
        </p:txBody>
      </p:sp>
      <p:sp>
        <p:nvSpPr>
          <p:cNvPr id="5" name="Oval 4"/>
          <p:cNvSpPr/>
          <p:nvPr/>
        </p:nvSpPr>
        <p:spPr>
          <a:xfrm>
            <a:off x="566928" y="1965960"/>
            <a:ext cx="82296" cy="82296"/>
          </a:xfrm>
          <a:prstGeom prst="ellipse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874519"/>
            <a:ext cx="108200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141414"/>
                </a:solidFill>
                <a:latin typeface="Calibri"/>
              </a:rPr>
              <a:t>Basada en contenido: compara características de la prenda con gustos del usuario</a:t>
            </a:r>
          </a:p>
        </p:txBody>
      </p:sp>
      <p:sp>
        <p:nvSpPr>
          <p:cNvPr id="7" name="Oval 6"/>
          <p:cNvSpPr/>
          <p:nvPr/>
        </p:nvSpPr>
        <p:spPr>
          <a:xfrm>
            <a:off x="566928" y="2532888"/>
            <a:ext cx="82296" cy="82296"/>
          </a:xfrm>
          <a:prstGeom prst="ellipse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2441448"/>
            <a:ext cx="108200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141414"/>
                </a:solidFill>
                <a:latin typeface="Calibri"/>
              </a:rPr>
              <a:t>Basada en historial: usa compras o productos vistos anteriormente</a:t>
            </a:r>
          </a:p>
        </p:txBody>
      </p:sp>
      <p:sp>
        <p:nvSpPr>
          <p:cNvPr id="9" name="Oval 8"/>
          <p:cNvSpPr/>
          <p:nvPr/>
        </p:nvSpPr>
        <p:spPr>
          <a:xfrm>
            <a:off x="566928" y="3099816"/>
            <a:ext cx="82296" cy="82296"/>
          </a:xfrm>
          <a:prstGeom prst="ellipse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3008376"/>
            <a:ext cx="108200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141414"/>
                </a:solidFill>
                <a:latin typeface="Calibri"/>
              </a:rPr>
              <a:t>Por ocasión de uso: tiene en cuenta para qué necesita la ropa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3666744"/>
            <a:ext cx="82296" cy="82296"/>
          </a:xfrm>
          <a:prstGeom prst="ellipse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3575304"/>
            <a:ext cx="108200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141414"/>
                </a:solidFill>
                <a:latin typeface="Calibri"/>
              </a:rPr>
              <a:t>La recomendación por contenido es la que construiremos en Python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97228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00">
                <a:solidFill>
                  <a:srgbClr val="A79F92"/>
                </a:solidFill>
                <a:latin typeface="Calibri"/>
              </a:rPr>
              <a:t>PRESENTACIÓN GENERADA AUTOMÁTICAMENTE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9C7B3D"/>
                </a:solidFill>
                <a:latin typeface="Calibri"/>
              </a:rPr>
              <a:t>08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150">
                <a:solidFill>
                  <a:srgbClr val="C6A15B"/>
                </a:solidFill>
                <a:latin typeface="Calibri"/>
              </a:rPr>
              <a:t>RECOMENDACIÓN POR OCASIÓN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Cambria"/>
              </a:rPr>
              <a:t>Prendas según el contexto del usuario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28800"/>
          <a:ext cx="1109441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5547208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6A15B"/>
                          </a:solidFill>
                          <a:latin typeface="Calibri"/>
                        </a:rPr>
                        <a:t>Ocasión</a:t>
                      </a:r>
                    </a:p>
                  </a:txBody>
                  <a:tcPr marL="76200" marR="76200" marT="50800" marB="50800" anchor="ctr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6A15B"/>
                          </a:solidFill>
                          <a:latin typeface="Calibri"/>
                        </a:rPr>
                        <a:t>Recomendaciones posibles</a:t>
                      </a:r>
                    </a:p>
                  </a:txBody>
                  <a:tcPr marL="76200" marR="76200" marT="50800" marB="50800" anchor="ctr">
                    <a:solidFill>
                      <a:srgbClr val="14141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Entrevista de trabajo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Blazer, camisa, pantalón formal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Fiesta</a:t>
                      </a:r>
                    </a:p>
                  </a:txBody>
                  <a:tcPr marL="76200" marR="76200" marT="50800" marB="50800" anchor="ctr"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Vestido, camisa elegante, zapatos de vestir</a:t>
                      </a:r>
                    </a:p>
                  </a:txBody>
                  <a:tcPr marL="76200" marR="76200" marT="50800" marB="50800" anchor="ctr">
                    <a:solidFill>
                      <a:srgbClr val="F7F5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Gimnasio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Leggings, camiseta deportiva, zapatillas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Playa</a:t>
                      </a:r>
                    </a:p>
                  </a:txBody>
                  <a:tcPr marL="76200" marR="76200" marT="50800" marB="50800" anchor="ctr"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Shorts, vestido ligero, sandalias</a:t>
                      </a:r>
                    </a:p>
                  </a:txBody>
                  <a:tcPr marL="76200" marR="76200" marT="50800" marB="50800" anchor="ctr">
                    <a:solidFill>
                      <a:srgbClr val="F7F5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Universidad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Jeans, sudadera, camiseta básica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73952"/>
            <a:ext cx="97228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00">
                <a:solidFill>
                  <a:srgbClr val="A79F92"/>
                </a:solidFill>
                <a:latin typeface="Calibri"/>
              </a:rPr>
              <a:t>PRESENTACIÓN GENERADA AUTOMÁTICAMENTE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C6A15B"/>
                </a:solidFill>
                <a:latin typeface="Calibri"/>
              </a:rPr>
              <a:t>09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150">
                <a:solidFill>
                  <a:srgbClr val="C6A15B"/>
                </a:solidFill>
                <a:latin typeface="Calibri"/>
              </a:rPr>
              <a:t>CÁLCULO DE LA RECOMENDACIÓN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41414"/>
                </a:solidFill>
                <a:latin typeface="Cambria"/>
              </a:rPr>
              <a:t>Sistema de puntuación por coincidencias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28800"/>
          <a:ext cx="1109441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5547208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6A15B"/>
                          </a:solidFill>
                          <a:latin typeface="Calibri"/>
                        </a:rPr>
                        <a:t>Coincidencia</a:t>
                      </a:r>
                    </a:p>
                  </a:txBody>
                  <a:tcPr marL="76200" marR="76200" marT="50800" marB="50800" anchor="ctr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6A15B"/>
                          </a:solidFill>
                          <a:latin typeface="Calibri"/>
                        </a:rPr>
                        <a:t>Puntos</a:t>
                      </a:r>
                    </a:p>
                  </a:txBody>
                  <a:tcPr marL="76200" marR="76200" marT="50800" marB="50800" anchor="ctr">
                    <a:solidFill>
                      <a:srgbClr val="14141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Misma talla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+3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Mismo color favorito</a:t>
                      </a:r>
                    </a:p>
                  </a:txBody>
                  <a:tcPr marL="76200" marR="76200" marT="50800" marB="50800" anchor="ctr"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+2</a:t>
                      </a:r>
                    </a:p>
                  </a:txBody>
                  <a:tcPr marL="76200" marR="76200" marT="50800" marB="50800" anchor="ctr">
                    <a:solidFill>
                      <a:srgbClr val="F7F5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Mismo estilo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+2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Misma ocasión de uso</a:t>
                      </a:r>
                    </a:p>
                  </a:txBody>
                  <a:tcPr marL="76200" marR="76200" marT="50800" marB="50800" anchor="ctr"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+3</a:t>
                      </a:r>
                    </a:p>
                  </a:txBody>
                  <a:tcPr marL="76200" marR="76200" marT="50800" marB="50800" anchor="ctr">
                    <a:solidFill>
                      <a:srgbClr val="F7F5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73952"/>
            <a:ext cx="97228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00">
                <a:solidFill>
                  <a:srgbClr val="A79F92"/>
                </a:solidFill>
                <a:latin typeface="Calibri"/>
              </a:rPr>
              <a:t>PRESENTACIÓN GENERADA AUTOMÁTICAMENTE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9C7B3D"/>
                </a:solidFill>
                <a:latin typeface="Calibri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150">
                <a:solidFill>
                  <a:srgbClr val="C6A15B"/>
                </a:solidFill>
                <a:latin typeface="Calibri"/>
              </a:rPr>
              <a:t>EJEMPLO PRÁCTICO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Cambria"/>
              </a:rPr>
              <a:t>Ejemplo visual de puntuación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28800"/>
          <a:ext cx="1109441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9069"/>
                <a:gridCol w="1849069"/>
                <a:gridCol w="1849069"/>
                <a:gridCol w="1849069"/>
                <a:gridCol w="1849069"/>
                <a:gridCol w="184907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6A15B"/>
                          </a:solidFill>
                          <a:latin typeface="Calibri"/>
                        </a:rPr>
                        <a:t>Prenda</a:t>
                      </a:r>
                    </a:p>
                  </a:txBody>
                  <a:tcPr marL="76200" marR="76200" marT="50800" marB="50800" anchor="ctr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6A15B"/>
                          </a:solidFill>
                          <a:latin typeface="Calibri"/>
                        </a:rPr>
                        <a:t>Talla</a:t>
                      </a:r>
                    </a:p>
                  </a:txBody>
                  <a:tcPr marL="76200" marR="76200" marT="50800" marB="50800" anchor="ctr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6A15B"/>
                          </a:solidFill>
                          <a:latin typeface="Calibri"/>
                        </a:rPr>
                        <a:t>Color</a:t>
                      </a:r>
                    </a:p>
                  </a:txBody>
                  <a:tcPr marL="76200" marR="76200" marT="50800" marB="50800" anchor="ctr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6A15B"/>
                          </a:solidFill>
                          <a:latin typeface="Calibri"/>
                        </a:rPr>
                        <a:t>Estilo</a:t>
                      </a:r>
                    </a:p>
                  </a:txBody>
                  <a:tcPr marL="76200" marR="76200" marT="50800" marB="50800" anchor="ctr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6A15B"/>
                          </a:solidFill>
                          <a:latin typeface="Calibri"/>
                        </a:rPr>
                        <a:t>Ocasión</a:t>
                      </a:r>
                    </a:p>
                  </a:txBody>
                  <a:tcPr marL="76200" marR="76200" marT="50800" marB="50800" anchor="ctr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6A15B"/>
                          </a:solidFill>
                          <a:latin typeface="Calibri"/>
                        </a:rPr>
                        <a:t>Puntuación</a:t>
                      </a:r>
                    </a:p>
                  </a:txBody>
                  <a:tcPr marL="76200" marR="76200" marT="50800" marB="50800" anchor="ctr">
                    <a:solidFill>
                      <a:srgbClr val="14141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Camiseta negra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negro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casual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diario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Blazer azul</a:t>
                      </a:r>
                    </a:p>
                  </a:txBody>
                  <a:tcPr marL="76200" marR="76200" marT="50800" marB="50800" anchor="ctr"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76200" marR="76200" marT="50800" marB="50800" anchor="ctr"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azul</a:t>
                      </a:r>
                    </a:p>
                  </a:txBody>
                  <a:tcPr marL="76200" marR="76200" marT="50800" marB="50800" anchor="ctr"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formal</a:t>
                      </a:r>
                    </a:p>
                  </a:txBody>
                  <a:tcPr marL="76200" marR="76200" marT="50800" marB="50800" anchor="ctr"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trabajo</a:t>
                      </a:r>
                    </a:p>
                  </a:txBody>
                  <a:tcPr marL="76200" marR="76200" marT="50800" marB="50800" anchor="ctr"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6200" marR="76200" marT="50800" marB="50800" anchor="ctr">
                    <a:solidFill>
                      <a:srgbClr val="F7F5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Vestido negro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negro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elegante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fiesta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Jeans azul</a:t>
                      </a:r>
                    </a:p>
                  </a:txBody>
                  <a:tcPr marL="76200" marR="76200" marT="50800" marB="50800" anchor="ctr"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M</a:t>
                      </a:r>
                    </a:p>
                  </a:txBody>
                  <a:tcPr marL="76200" marR="76200" marT="50800" marB="50800" anchor="ctr"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azul</a:t>
                      </a:r>
                    </a:p>
                  </a:txBody>
                  <a:tcPr marL="76200" marR="76200" marT="50800" marB="50800" anchor="ctr"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casual</a:t>
                      </a:r>
                    </a:p>
                  </a:txBody>
                  <a:tcPr marL="76200" marR="76200" marT="50800" marB="50800" anchor="ctr"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diario</a:t>
                      </a:r>
                    </a:p>
                  </a:txBody>
                  <a:tcPr marL="76200" marR="76200" marT="50800" marB="50800" anchor="ctr"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6200" marR="76200" marT="50800" marB="50800" anchor="ctr">
                    <a:solidFill>
                      <a:srgbClr val="F7F5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73952"/>
            <a:ext cx="97228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00">
                <a:solidFill>
                  <a:srgbClr val="A79F92"/>
                </a:solidFill>
                <a:latin typeface="Calibri"/>
              </a:rPr>
              <a:t>PRESENTACIÓN GENERADA AUTOMÁTICAMENTE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C6A15B"/>
                </a:solidFill>
                <a:latin typeface="Calibri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150">
                <a:solidFill>
                  <a:srgbClr val="C6A15B"/>
                </a:solidFill>
                <a:latin typeface="Calibri"/>
              </a:rPr>
              <a:t>ACTIVIDAD GUIADA EN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Cambria"/>
              </a:rPr>
              <a:t>Recomendador básico de prendas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11094415" cy="4206240"/>
          </a:xfrm>
          <a:prstGeom prst="rect">
            <a:avLst/>
          </a:prstGeom>
          <a:solidFill>
            <a:srgbClr val="0D0D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965960"/>
            <a:ext cx="146304" cy="146304"/>
          </a:xfrm>
          <a:prstGeom prst="ellipse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1965960"/>
            <a:ext cx="146304" cy="146304"/>
          </a:xfrm>
          <a:prstGeom prst="ellipse">
            <a:avLst/>
          </a:prstGeom>
          <a:solidFill>
            <a:srgbClr val="C4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34440" y="1965960"/>
            <a:ext cx="146304" cy="146304"/>
          </a:xfrm>
          <a:prstGeom prst="ellipse">
            <a:avLst/>
          </a:prstGeom>
          <a:solidFill>
            <a:srgbClr val="3F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1874519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A79F92"/>
                </a:solidFill>
                <a:latin typeface="Courier New"/>
              </a:rPr>
              <a:t>recomendador_moda_basico.py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286000"/>
            <a:ext cx="10545775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200">
                <a:solidFill>
                  <a:srgbClr val="E8E4DA"/>
                </a:solidFill>
                <a:latin typeface="Courier New"/>
              </a:rPr>
              <a:t>prendas = [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E8C170"/>
                </a:solidFill>
                <a:latin typeface="Courier New"/>
              </a:rPr>
              <a:t>    {"nombre": "Camiseta negra básica", "talla": "M", "color": "negro", "estilo": "casual", "ocasion": "diario"},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E8C170"/>
                </a:solidFill>
                <a:latin typeface="Courier New"/>
              </a:rPr>
              <a:t>    {"nombre": "Blazer azul formal", "talla": "M", "color": "azul", "estilo": "formal", "ocasion": "trabajo"},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E8C170"/>
                </a:solidFill>
                <a:latin typeface="Courier New"/>
              </a:rPr>
              <a:t>    {"nombre": "Vestido rojo de fiesta", "talla": "S", "color": "rojo", "estilo": "elegante", "ocasion": "fiesta"}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E8E4DA"/>
                </a:solidFill>
                <a:latin typeface="Courier New"/>
              </a:rPr>
              <a:t>]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E8E4DA"/>
                </a:solidFill>
                <a:latin typeface="Courier New"/>
              </a:rPr>
              <a:t> 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E8C170"/>
                </a:solidFill>
                <a:latin typeface="Courier New"/>
              </a:rPr>
              <a:t>talla_usuario = input("¿Cuál es tu talla?")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E8C170"/>
                </a:solidFill>
                <a:latin typeface="Courier New"/>
              </a:rPr>
              <a:t>color_usuario = input("¿Cuál es tu color favorito?")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E8C170"/>
                </a:solidFill>
                <a:latin typeface="Courier New"/>
              </a:rPr>
              <a:t>estilo_usuario = input("¿Qué estilo prefieres?")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E8C170"/>
                </a:solidFill>
                <a:latin typeface="Courier New"/>
              </a:rPr>
              <a:t>ocasion_usuario = input("¿Para qué ocasión buscas ropa?")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E8E4DA"/>
                </a:solidFill>
                <a:latin typeface="Courier New"/>
              </a:rPr>
              <a:t> 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E8E4DA"/>
                </a:solidFill>
                <a:latin typeface="Courier New"/>
              </a:rPr>
              <a:t>def calcular_puntuacion(prenda):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E8E4DA"/>
                </a:solidFill>
                <a:latin typeface="Courier New"/>
              </a:rPr>
              <a:t>    puntuacion = 0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E8C170"/>
                </a:solidFill>
                <a:latin typeface="Courier New"/>
              </a:rPr>
              <a:t>    if prenda["talla"].lower() == talla_usuario.lower():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E8E4DA"/>
                </a:solidFill>
                <a:latin typeface="Courier New"/>
              </a:rPr>
              <a:t>        puntuacion += 3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E8C170"/>
                </a:solidFill>
                <a:latin typeface="Courier New"/>
              </a:rPr>
              <a:t>    if prenda["color"].lower() == color_usuario.lower():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E8E4DA"/>
                </a:solidFill>
                <a:latin typeface="Courier New"/>
              </a:rPr>
              <a:t>        puntuacion += 2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E8C170"/>
                </a:solidFill>
                <a:latin typeface="Courier New"/>
              </a:rPr>
              <a:t>    if prenda["estilo"].lower() == estilo_usuario.lower():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E8E4DA"/>
                </a:solidFill>
                <a:latin typeface="Courier New"/>
              </a:rPr>
              <a:t>        puntuacion += 2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E8C170"/>
                </a:solidFill>
                <a:latin typeface="Courier New"/>
              </a:rPr>
              <a:t>    if prenda["ocasion"].lower() == ocasion_usuario.lower():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E8E4DA"/>
                </a:solidFill>
                <a:latin typeface="Courier New"/>
              </a:rPr>
              <a:t>        puntuacion += 3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E8E4DA"/>
                </a:solidFill>
                <a:latin typeface="Courier New"/>
              </a:rPr>
              <a:t>    return puntuacion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E8E4DA"/>
                </a:solidFill>
                <a:latin typeface="Courier New"/>
              </a:rPr>
              <a:t> 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E8E4DA"/>
                </a:solidFill>
                <a:latin typeface="Courier New"/>
              </a:rPr>
              <a:t>resultados = []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E8E4DA"/>
                </a:solidFill>
                <a:latin typeface="Courier New"/>
              </a:rPr>
              <a:t>for prenda in prendas: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E8E4DA"/>
                </a:solidFill>
                <a:latin typeface="Courier New"/>
              </a:rPr>
              <a:t>    puntos = calcular_puntuacion(prenda)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E8C170"/>
                </a:solidFill>
                <a:latin typeface="Courier New"/>
              </a:rPr>
              <a:t>    resultados.append({"nombre": prenda["nombre"], "puntuacion": puntos})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E8E4DA"/>
                </a:solidFill>
                <a:latin typeface="Courier New"/>
              </a:rPr>
              <a:t> 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E8C170"/>
                </a:solidFill>
                <a:latin typeface="Courier New"/>
              </a:rPr>
              <a:t>resultados_ordenados = sorted(resultados, key=lambda x: x["puntuacion"], reverse=True)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E8E4DA"/>
                </a:solidFill>
                <a:latin typeface="Courier New"/>
              </a:rPr>
              <a:t> 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E8C170"/>
                </a:solidFill>
                <a:latin typeface="Courier New"/>
              </a:rPr>
              <a:t>print("🛍️ Recomendaciones para ti:")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E8E4DA"/>
                </a:solidFill>
                <a:latin typeface="Courier New"/>
              </a:rPr>
              <a:t>for resultado in resultados_ordenados: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E8C170"/>
                </a:solidFill>
                <a:latin typeface="Courier New"/>
              </a:rPr>
              <a:t>    if resultado["puntuacion"] &gt; 0: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E8C170"/>
                </a:solidFill>
                <a:latin typeface="Courier New"/>
              </a:rPr>
              <a:t>        print(f"- {resultado['nombre']} | Puntuación: {resultado['puntuacion']}")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97228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00">
                <a:solidFill>
                  <a:srgbClr val="A79F92"/>
                </a:solidFill>
                <a:latin typeface="Calibri"/>
              </a:rPr>
              <a:t>PRESENTACIÓN GENERADA AUTOMÁTICAMENTE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C6A15B"/>
                </a:solidFill>
                <a:latin typeface="Calibri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150">
                <a:solidFill>
                  <a:srgbClr val="C6A15B"/>
                </a:solidFill>
                <a:latin typeface="Calibri"/>
              </a:rPr>
              <a:t>EXPLICACIÓN DEL CÓDIGO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41414"/>
                </a:solidFill>
                <a:latin typeface="Cambria"/>
              </a:rPr>
              <a:t>¿Qué hace cada parte del recomendador?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28800"/>
          <a:ext cx="11094415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5547208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6A15B"/>
                          </a:solidFill>
                          <a:latin typeface="Calibri"/>
                        </a:rPr>
                        <a:t>Parte del código</a:t>
                      </a:r>
                    </a:p>
                  </a:txBody>
                  <a:tcPr marL="76200" marR="76200" marT="50800" marB="50800" anchor="ctr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6A15B"/>
                          </a:solidFill>
                          <a:latin typeface="Calibri"/>
                        </a:rPr>
                        <a:t>¿Qué hace?</a:t>
                      </a:r>
                    </a:p>
                  </a:txBody>
                  <a:tcPr marL="76200" marR="76200" marT="50800" marB="50800" anchor="ctr">
                    <a:solidFill>
                      <a:srgbClr val="14141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prendas = [...]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Guarda la lista de prendas disponibles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input()</a:t>
                      </a:r>
                    </a:p>
                  </a:txBody>
                  <a:tcPr marL="76200" marR="76200" marT="50800" marB="50800" anchor="ctr"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Pregunta al usuario sus preferencias</a:t>
                      </a:r>
                    </a:p>
                  </a:txBody>
                  <a:tcPr marL="76200" marR="76200" marT="50800" marB="50800" anchor="ctr">
                    <a:solidFill>
                      <a:srgbClr val="F7F5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calcular_puntuacion()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Da puntos a cada prenda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if</a:t>
                      </a:r>
                    </a:p>
                  </a:txBody>
                  <a:tcPr marL="76200" marR="76200" marT="50800" marB="50800" anchor="ctr"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Comprueba si hay coincidencias</a:t>
                      </a:r>
                    </a:p>
                  </a:txBody>
                  <a:tcPr marL="76200" marR="76200" marT="50800" marB="50800" anchor="ctr">
                    <a:solidFill>
                      <a:srgbClr val="F7F5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sorted()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Ordena las prendas de mejor a peor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print()</a:t>
                      </a:r>
                    </a:p>
                  </a:txBody>
                  <a:tcPr marL="76200" marR="76200" marT="50800" marB="50800" anchor="ctr"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Muestra el resultado en pantalla</a:t>
                      </a:r>
                    </a:p>
                  </a:txBody>
                  <a:tcPr marL="76200" marR="76200" marT="50800" marB="50800" anchor="ctr">
                    <a:solidFill>
                      <a:srgbClr val="F7F5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73952"/>
            <a:ext cx="97228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00">
                <a:solidFill>
                  <a:srgbClr val="A79F92"/>
                </a:solidFill>
                <a:latin typeface="Calibri"/>
              </a:rPr>
              <a:t>PRESENTACIÓN GENERADA AUTOMÁTICAMENTE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9C7B3D"/>
                </a:solidFill>
                <a:latin typeface="Calibri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150">
                <a:solidFill>
                  <a:srgbClr val="C6A15B"/>
                </a:solidFill>
                <a:latin typeface="Calibri"/>
              </a:rPr>
              <a:t>VERSIÓN MEJORADA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Cambria"/>
              </a:rPr>
              <a:t>Mostrar solo las 3 mejores prendas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11094415" cy="4206240"/>
          </a:xfrm>
          <a:prstGeom prst="rect">
            <a:avLst/>
          </a:prstGeom>
          <a:solidFill>
            <a:srgbClr val="0D0D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965960"/>
            <a:ext cx="146304" cy="146304"/>
          </a:xfrm>
          <a:prstGeom prst="ellipse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1965960"/>
            <a:ext cx="146304" cy="146304"/>
          </a:xfrm>
          <a:prstGeom prst="ellipse">
            <a:avLst/>
          </a:prstGeom>
          <a:solidFill>
            <a:srgbClr val="C4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34440" y="1965960"/>
            <a:ext cx="146304" cy="146304"/>
          </a:xfrm>
          <a:prstGeom prst="ellipse">
            <a:avLst/>
          </a:prstGeom>
          <a:solidFill>
            <a:srgbClr val="3F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1874519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A79F92"/>
                </a:solidFill>
                <a:latin typeface="Courier New"/>
              </a:rPr>
              <a:t>top_3_recomendaciones.py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286000"/>
            <a:ext cx="10545775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200">
                <a:solidFill>
                  <a:srgbClr val="E8E4DA"/>
                </a:solidFill>
                <a:latin typeface="Courier New"/>
              </a:rPr>
              <a:t>top_3 = resultados_ordenados[:3]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E8E4DA"/>
                </a:solidFill>
                <a:latin typeface="Courier New"/>
              </a:rPr>
              <a:t> 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E8C170"/>
                </a:solidFill>
                <a:latin typeface="Courier New"/>
              </a:rPr>
              <a:t>print("🏆 Tus 3 mejores recomendaciones son:")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E8E4DA"/>
                </a:solidFill>
                <a:latin typeface="Courier New"/>
              </a:rPr>
              <a:t>for posicion, resultado in enumerate(top_3, start=1):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E8C170"/>
                </a:solidFill>
                <a:latin typeface="Courier New"/>
              </a:rPr>
              <a:t>    print(f"{posicion}. {resultado['nombre']} | Puntuación: {resultado['puntuacion']}")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97228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00">
                <a:solidFill>
                  <a:srgbClr val="A79F92"/>
                </a:solidFill>
                <a:latin typeface="Calibri"/>
              </a:rPr>
              <a:t>PRESENTACIÓN GENERADA AUTOMÁTICAMENTE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C6A15B"/>
                </a:solidFill>
                <a:latin typeface="Calibri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150">
                <a:solidFill>
                  <a:srgbClr val="C6A15B"/>
                </a:solidFill>
                <a:latin typeface="Calibri"/>
              </a:rPr>
              <a:t>VERSIÓN CON EXPLICACIÓN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Cambria"/>
              </a:rPr>
              <a:t>Por qué se recomienda una prenda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11094415" cy="4206240"/>
          </a:xfrm>
          <a:prstGeom prst="rect">
            <a:avLst/>
          </a:prstGeom>
          <a:solidFill>
            <a:srgbClr val="0D0D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965960"/>
            <a:ext cx="146304" cy="146304"/>
          </a:xfrm>
          <a:prstGeom prst="ellipse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1965960"/>
            <a:ext cx="146304" cy="146304"/>
          </a:xfrm>
          <a:prstGeom prst="ellipse">
            <a:avLst/>
          </a:prstGeom>
          <a:solidFill>
            <a:srgbClr val="C4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34440" y="1965960"/>
            <a:ext cx="146304" cy="146304"/>
          </a:xfrm>
          <a:prstGeom prst="ellipse">
            <a:avLst/>
          </a:prstGeom>
          <a:solidFill>
            <a:srgbClr val="3F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1874519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A79F92"/>
                </a:solidFill>
                <a:latin typeface="Courier New"/>
              </a:rPr>
              <a:t>recomendador_con_explicacion.py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286000"/>
            <a:ext cx="10545775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200">
                <a:solidFill>
                  <a:srgbClr val="E8E4DA"/>
                </a:solidFill>
                <a:latin typeface="Courier New"/>
              </a:rPr>
              <a:t>def explicar_recomendacion(prenda):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E8E4DA"/>
                </a:solidFill>
                <a:latin typeface="Courier New"/>
              </a:rPr>
              <a:t>    razones = []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E8C170"/>
                </a:solidFill>
                <a:latin typeface="Courier New"/>
              </a:rPr>
              <a:t>    if prenda["talla"].lower() == talla_usuario.lower():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E8C170"/>
                </a:solidFill>
                <a:latin typeface="Courier New"/>
              </a:rPr>
              <a:t>        razones.append("coincide con tu talla")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E8C170"/>
                </a:solidFill>
                <a:latin typeface="Courier New"/>
              </a:rPr>
              <a:t>    if prenda["color"].lower() == color_usuario.lower():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E8C170"/>
                </a:solidFill>
                <a:latin typeface="Courier New"/>
              </a:rPr>
              <a:t>        razones.append("coincide con tu color favorito")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E8C170"/>
                </a:solidFill>
                <a:latin typeface="Courier New"/>
              </a:rPr>
              <a:t>    if prenda["estilo"].lower() == estilo_usuario.lower():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E8C170"/>
                </a:solidFill>
                <a:latin typeface="Courier New"/>
              </a:rPr>
              <a:t>        razones.append("coincide con tu estilo preferido")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E8C170"/>
                </a:solidFill>
                <a:latin typeface="Courier New"/>
              </a:rPr>
              <a:t>    if prenda["ocasion"].lower() == ocasion_usuario.lower():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E8C170"/>
                </a:solidFill>
                <a:latin typeface="Courier New"/>
              </a:rPr>
              <a:t>        razones.append("es adecuada para la ocasión que buscas")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E8E4DA"/>
                </a:solidFill>
                <a:latin typeface="Courier New"/>
              </a:rPr>
              <a:t>    return razones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E8E4DA"/>
                </a:solidFill>
                <a:latin typeface="Courier New"/>
              </a:rPr>
              <a:t> 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E8E4DA"/>
                </a:solidFill>
                <a:latin typeface="Courier New"/>
              </a:rPr>
              <a:t>for prenda in prendas: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E8E4DA"/>
                </a:solidFill>
                <a:latin typeface="Courier New"/>
              </a:rPr>
              <a:t>    puntos = calcular_puntuacion(prenda)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E8E4DA"/>
                </a:solidFill>
                <a:latin typeface="Courier New"/>
              </a:rPr>
              <a:t>    if puntos &gt; 0: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E8E4DA"/>
                </a:solidFill>
                <a:latin typeface="Courier New"/>
              </a:rPr>
              <a:t>        razones = explicar_recomendacion(prenda)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E8C170"/>
                </a:solidFill>
                <a:latin typeface="Courier New"/>
              </a:rPr>
              <a:t>        print(f"\n👕 {prenda['nombre']}")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E8C170"/>
                </a:solidFill>
                <a:latin typeface="Courier New"/>
              </a:rPr>
              <a:t>        print(f"Puntuación: {puntos}")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E8C170"/>
                </a:solidFill>
                <a:latin typeface="Courier New"/>
              </a:rPr>
              <a:t>        print("Razones:")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E8E4DA"/>
                </a:solidFill>
                <a:latin typeface="Courier New"/>
              </a:rPr>
              <a:t>        for razon in razones: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E8C170"/>
                </a:solidFill>
                <a:latin typeface="Courier New"/>
              </a:rPr>
              <a:t>            print(f"✅ {razon}")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97228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00">
                <a:solidFill>
                  <a:srgbClr val="A79F92"/>
                </a:solidFill>
                <a:latin typeface="Calibri"/>
              </a:rPr>
              <a:t>PRESENTACIÓN GENERADA AUTOMÁTICAMENTE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C6A15B"/>
                </a:solidFill>
                <a:latin typeface="Calibri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150">
                <a:solidFill>
                  <a:srgbClr val="C6A15B"/>
                </a:solidFill>
                <a:latin typeface="Calibri"/>
              </a:rPr>
              <a:t>NUEVA CARACTERÍSTICA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41414"/>
                </a:solidFill>
                <a:latin typeface="Cambria"/>
              </a:rPr>
              <a:t>Añadir la temporada al recomendador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11094415" cy="4206240"/>
          </a:xfrm>
          <a:prstGeom prst="rect">
            <a:avLst/>
          </a:prstGeom>
          <a:solidFill>
            <a:srgbClr val="0D0D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965960"/>
            <a:ext cx="146304" cy="146304"/>
          </a:xfrm>
          <a:prstGeom prst="ellipse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1965960"/>
            <a:ext cx="146304" cy="146304"/>
          </a:xfrm>
          <a:prstGeom prst="ellipse">
            <a:avLst/>
          </a:prstGeom>
          <a:solidFill>
            <a:srgbClr val="C4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34440" y="1965960"/>
            <a:ext cx="146304" cy="146304"/>
          </a:xfrm>
          <a:prstGeom prst="ellipse">
            <a:avLst/>
          </a:prstGeom>
          <a:solidFill>
            <a:srgbClr val="3F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1874519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A79F92"/>
                </a:solidFill>
                <a:latin typeface="Courier New"/>
              </a:rPr>
              <a:t>recomendador_con_temporada.py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286000"/>
            <a:ext cx="10545775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1200">
                <a:solidFill>
                  <a:srgbClr val="E8E4DA"/>
                </a:solidFill>
                <a:latin typeface="Courier New"/>
              </a:rPr>
              <a:t>prenda = {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E8C170"/>
                </a:solidFill>
                <a:latin typeface="Courier New"/>
              </a:rPr>
              <a:t>    "nombre": "Vestido floral de verano",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E8C170"/>
                </a:solidFill>
                <a:latin typeface="Courier New"/>
              </a:rPr>
              <a:t>    "talla": "M",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E8C170"/>
                </a:solidFill>
                <a:latin typeface="Courier New"/>
              </a:rPr>
              <a:t>    "color": "amarillo",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E8C170"/>
                </a:solidFill>
                <a:latin typeface="Courier New"/>
              </a:rPr>
              <a:t>    "estilo": "casual",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E8C170"/>
                </a:solidFill>
                <a:latin typeface="Courier New"/>
              </a:rPr>
              <a:t>    "ocasion": "diario",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E8C170"/>
                </a:solidFill>
                <a:latin typeface="Courier New"/>
              </a:rPr>
              <a:t>    "temporada": "verano"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E8E4DA"/>
                </a:solidFill>
                <a:latin typeface="Courier New"/>
              </a:rPr>
              <a:t>}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E8E4DA"/>
                </a:solidFill>
                <a:latin typeface="Courier New"/>
              </a:rPr>
              <a:t> 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E8C170"/>
                </a:solidFill>
                <a:latin typeface="Courier New"/>
              </a:rPr>
              <a:t>temporada_usuario = input("¿Para qué temporada buscas ropa?")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E8E4DA"/>
                </a:solidFill>
                <a:latin typeface="Courier New"/>
              </a:rPr>
              <a:t> 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E8E4DA"/>
                </a:solidFill>
                <a:latin typeface="Courier New"/>
              </a:rPr>
              <a:t>puntuacion = 0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E8C170"/>
                </a:solidFill>
                <a:latin typeface="Courier New"/>
              </a:rPr>
              <a:t>if prenda["temporada"].lower() == temporada_usuario.lower():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E8E4DA"/>
                </a:solidFill>
                <a:latin typeface="Courier New"/>
              </a:rPr>
              <a:t>    puntuacion += 2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E8E4DA"/>
                </a:solidFill>
                <a:latin typeface="Courier New"/>
              </a:rPr>
              <a:t> </a:t>
            </a:r>
          </a:p>
          <a:p>
            <a:pPr>
              <a:lnSpc>
                <a:spcPct val="110000"/>
              </a:lnSpc>
            </a:pPr>
            <a:r>
              <a:rPr sz="1200">
                <a:solidFill>
                  <a:srgbClr val="E8C170"/>
                </a:solidFill>
                <a:latin typeface="Courier New"/>
              </a:rPr>
              <a:t>print("Puntuación por temporada:", puntuacion)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97228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00">
                <a:solidFill>
                  <a:srgbClr val="A79F92"/>
                </a:solidFill>
                <a:latin typeface="Calibri"/>
              </a:rPr>
              <a:t>PRESENTACIÓN GENERADA AUTOMÁTICAMENTE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C6A15B"/>
                </a:solidFill>
                <a:latin typeface="Calibri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150">
                <a:solidFill>
                  <a:srgbClr val="C6A15B"/>
                </a:solidFill>
                <a:latin typeface="Calibri"/>
              </a:rPr>
              <a:t>BUENAS PRÁCTICAS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Cambria"/>
              </a:rPr>
              <a:t>Recomendar moda con responsabilidad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28800"/>
          <a:ext cx="1109441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5547208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6A15B"/>
                          </a:solidFill>
                          <a:latin typeface="Calibri"/>
                        </a:rPr>
                        <a:t>Buena práctica</a:t>
                      </a:r>
                    </a:p>
                  </a:txBody>
                  <a:tcPr marL="76200" marR="76200" marT="50800" marB="50800" anchor="ctr"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6A15B"/>
                          </a:solidFill>
                          <a:latin typeface="Calibri"/>
                        </a:rPr>
                        <a:t>Explicación</a:t>
                      </a:r>
                    </a:p>
                  </a:txBody>
                  <a:tcPr marL="76200" marR="76200" marT="50800" marB="50800" anchor="ctr">
                    <a:solidFill>
                      <a:srgbClr val="14141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No recomendar prendas sin talla disponible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Evita frustración en el usuario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Explicar la recomendación</a:t>
                      </a:r>
                    </a:p>
                  </a:txBody>
                  <a:tcPr marL="76200" marR="76200" marT="50800" marB="50800" anchor="ctr"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El usuario entiende por qué aparece una prenda</a:t>
                      </a:r>
                    </a:p>
                  </a:txBody>
                  <a:tcPr marL="76200" marR="76200" marT="50800" marB="50800" anchor="ctr">
                    <a:solidFill>
                      <a:srgbClr val="F7F5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No usar demasiadas preguntas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Muchas preguntas pueden cansar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Permitir cambiar preferencias</a:t>
                      </a:r>
                    </a:p>
                  </a:txBody>
                  <a:tcPr marL="76200" marR="76200" marT="50800" marB="50800" anchor="ctr">
                    <a:solidFill>
                      <a:srgbClr val="F7F5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Los gustos pueden cambiar</a:t>
                      </a:r>
                    </a:p>
                  </a:txBody>
                  <a:tcPr marL="76200" marR="76200" marT="50800" marB="50800" anchor="ctr">
                    <a:solidFill>
                      <a:srgbClr val="F7F5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Combinar utilidad y creatividad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41414"/>
                          </a:solidFill>
                          <a:latin typeface="Calibri"/>
                        </a:rPr>
                        <a:t>La moda también es expresión personal</a:t>
                      </a:r>
                    </a:p>
                  </a:txBody>
                  <a:tcPr marL="76200" marR="76200" marT="50800" marB="5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73952"/>
            <a:ext cx="97228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00">
                <a:solidFill>
                  <a:srgbClr val="A79F92"/>
                </a:solidFill>
                <a:latin typeface="Calibri"/>
              </a:rPr>
              <a:t>PRESENTACIÓN GENERADA AUTOMÁTICAMENTE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C6A15B"/>
                </a:solidFill>
                <a:latin typeface="Calibri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91295" y="4114800"/>
            <a:ext cx="4572000" cy="4572000"/>
          </a:xfrm>
          <a:prstGeom prst="ellipse">
            <a:avLst/>
          </a:prstGeom>
          <a:noFill/>
          <a:ln w="15240">
            <a:solidFill>
              <a:srgbClr val="C6A1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150">
                <a:solidFill>
                  <a:srgbClr val="C6A15B"/>
                </a:solidFill>
                <a:latin typeface="Calibri"/>
              </a:rPr>
              <a:t>CIERRE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i="0">
                <a:solidFill>
                  <a:srgbClr val="FFFFFF"/>
                </a:solidFill>
                <a:latin typeface="Cambria"/>
              </a:rPr>
              <a:t>Conclusión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103120"/>
            <a:ext cx="310896" cy="310896"/>
          </a:xfrm>
          <a:prstGeom prst="ellipse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048255"/>
            <a:ext cx="91440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Un sistema de recomendación combina datos del usuario con las prendas disponibles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6352"/>
            <a:ext cx="310896" cy="310896"/>
          </a:xfrm>
          <a:prstGeom prst="ellipse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761488"/>
            <a:ext cx="91440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La personalización mejora la experiencia de compra en moda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29584"/>
            <a:ext cx="310896" cy="310896"/>
          </a:xfrm>
          <a:prstGeom prst="ellipse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474720"/>
            <a:ext cx="91440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La recomendación basada en contenido es sencilla de implementar en Python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242816"/>
            <a:ext cx="310896" cy="310896"/>
          </a:xfrm>
          <a:prstGeom prst="ellipse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187952"/>
            <a:ext cx="91440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Un sistema de puntos permite ordenar prendas por relevancia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956048"/>
            <a:ext cx="310896" cy="310896"/>
          </a:xfrm>
          <a:prstGeom prst="ellipse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901184"/>
            <a:ext cx="91440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Explicar las recomendaciones genera confianza en el usuario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669280"/>
            <a:ext cx="310896" cy="310896"/>
          </a:xfrm>
          <a:prstGeom prst="ellipse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614416"/>
            <a:ext cx="91440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Es posible ampliar el recomendador con nuevas características como temporada o material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97228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 spc="100">
                <a:solidFill>
                  <a:srgbClr val="A79F92"/>
                </a:solidFill>
                <a:latin typeface="Calibri"/>
              </a:rPr>
              <a:t>PRESENTACIÓN GENERADA AUTOMÁTICAMENTE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C6A15B"/>
                </a:solidFill>
                <a:latin typeface="Calibri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